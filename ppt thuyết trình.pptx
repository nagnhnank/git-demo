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7B052-9C5E-4B19-9282-5EF79F60CC2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04A78-9CF8-4C8F-B124-8312478B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6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4A78-9CF8-4C8F-B124-8312478BE2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37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dirty="0">
                <a:solidFill>
                  <a:srgbClr val="BE2323"/>
                </a:solidFill>
                <a:latin typeface="Arial"/>
              </a:rPr>
              <a:t>TRÍ TUỆ NHÂN TẠO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040" y="3354305"/>
            <a:ext cx="170434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sz="4400" b="0" dirty="0">
                <a:solidFill>
                  <a:srgbClr val="161616"/>
                </a:solidFill>
                <a:latin typeface="Arial"/>
              </a:rPr>
              <a:t>XÂY DỰNG HỆ THỐNG</a:t>
            </a:r>
            <a:r>
              <a:rPr lang="en-US" sz="44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4400" b="0" dirty="0">
                <a:solidFill>
                  <a:srgbClr val="161616"/>
                </a:solidFill>
                <a:latin typeface="Arial"/>
              </a:rPr>
              <a:t>TRA CỨU ẢNH Y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0970" y="4175484"/>
            <a:ext cx="976122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0" dirty="0">
                <a:solidFill>
                  <a:srgbClr val="161616"/>
                </a:solidFill>
                <a:latin typeface="Arial"/>
              </a:rPr>
              <a:t>DỰA TRÊN ĐẶC TRƯNG HỌC SÂU (DEEP LEARNING)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020" y="216522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3600" dirty="0" err="1">
                <a:latin typeface="Arial"/>
              </a:rPr>
              <a:t>Chủ</a:t>
            </a:r>
            <a:r>
              <a:rPr lang="en-US" sz="3600" dirty="0">
                <a:latin typeface="Arial"/>
              </a:rPr>
              <a:t> </a:t>
            </a:r>
            <a:r>
              <a:rPr lang="en-US" sz="3600" dirty="0" err="1">
                <a:latin typeface="Arial"/>
              </a:rPr>
              <a:t>Đề</a:t>
            </a:r>
            <a:r>
              <a:rPr lang="en-US" sz="3600" dirty="0">
                <a:latin typeface="Arial"/>
              </a:rPr>
              <a:t> </a:t>
            </a:r>
            <a:r>
              <a:rPr sz="3600" b="0" dirty="0">
                <a:latin typeface="Arial"/>
              </a:rPr>
              <a:t>15</a:t>
            </a:r>
            <a:r>
              <a:rPr lang="en-US" sz="3600" b="0" dirty="0">
                <a:latin typeface="Arial"/>
              </a:rPr>
              <a:t>:</a:t>
            </a:r>
            <a:endParaRPr sz="3600" b="0" dirty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3720" y="6871979"/>
            <a:ext cx="10368280" cy="14875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800" b="0" dirty="0" err="1">
                <a:solidFill>
                  <a:srgbClr val="161616"/>
                </a:solidFill>
                <a:latin typeface="Arial"/>
              </a:rPr>
              <a:t>Người</a:t>
            </a:r>
            <a:r>
              <a:rPr lang="en-US"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lang="en-US" sz="2800" b="0" dirty="0" err="1">
                <a:solidFill>
                  <a:srgbClr val="161616"/>
                </a:solidFill>
                <a:latin typeface="Arial"/>
              </a:rPr>
              <a:t>thực</a:t>
            </a:r>
            <a:r>
              <a:rPr lang="en-US"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lang="en-US" sz="2800" b="0" dirty="0" err="1">
                <a:solidFill>
                  <a:srgbClr val="161616"/>
                </a:solidFill>
                <a:latin typeface="Arial"/>
              </a:rPr>
              <a:t>hiện</a:t>
            </a:r>
            <a:r>
              <a:rPr lang="en-US" sz="2800" b="0" dirty="0">
                <a:solidFill>
                  <a:srgbClr val="161616"/>
                </a:solidFill>
                <a:latin typeface="Arial"/>
              </a:rPr>
              <a:t>: 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Bùi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Thị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Kim Ngân </a:t>
            </a:r>
            <a:endParaRPr lang="en-US" sz="2800" b="0" dirty="0">
              <a:solidFill>
                <a:srgbClr val="161616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lang="en-US" sz="2800" b="0" dirty="0">
                <a:solidFill>
                  <a:srgbClr val="161616"/>
                </a:solidFill>
                <a:latin typeface="Arial"/>
              </a:rPr>
              <a:t>                          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Đặng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Thị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Thúy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Quỳnh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 </a:t>
            </a:r>
            <a:endParaRPr lang="en-US" sz="2800" dirty="0">
              <a:solidFill>
                <a:srgbClr val="161616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2800" b="0" dirty="0">
                <a:solidFill>
                  <a:srgbClr val="161616"/>
                </a:solidFill>
                <a:latin typeface="Arial"/>
              </a:rPr>
              <a:t>                           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Đỗ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Kim Chi</a:t>
            </a:r>
          </a:p>
        </p:txBody>
      </p:sp>
      <p:pic>
        <p:nvPicPr>
          <p:cNvPr id="9" name="Picture 8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7240" y="960120"/>
            <a:ext cx="5212080" cy="3749039"/>
          </a:xfrm>
          <a:prstGeom prst="rect">
            <a:avLst/>
          </a:prstGeom>
        </p:spPr>
      </p:pic>
      <p:pic>
        <p:nvPicPr>
          <p:cNvPr id="10" name="Picture 9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7240" y="5449579"/>
            <a:ext cx="5212080" cy="3429000"/>
          </a:xfrm>
          <a:prstGeom prst="rect">
            <a:avLst/>
          </a:prstGeom>
        </p:spPr>
      </p:pic>
      <p:sp>
        <p:nvSpPr>
          <p:cNvPr id="8" name="Cube 7">
            <a:extLst>
              <a:ext uri="{FF2B5EF4-FFF2-40B4-BE49-F238E27FC236}">
                <a16:creationId xmlns:a16="http://schemas.microsoft.com/office/drawing/2014/main" id="{576C54D0-C75D-66E8-3AE2-61FE3B273168}"/>
              </a:ext>
            </a:extLst>
          </p:cNvPr>
          <p:cNvSpPr/>
          <p:nvPr/>
        </p:nvSpPr>
        <p:spPr>
          <a:xfrm>
            <a:off x="375920" y="764088"/>
            <a:ext cx="355600" cy="378912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en-US" b="1" dirty="0">
              <a:ln/>
              <a:solidFill>
                <a:schemeClr val="accent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EA43DE-81FD-C983-5DA6-43BBA57C3A2B}"/>
              </a:ext>
            </a:extLst>
          </p:cNvPr>
          <p:cNvSpPr txBox="1"/>
          <p:nvPr/>
        </p:nvSpPr>
        <p:spPr>
          <a:xfrm>
            <a:off x="7373620" y="6871978"/>
            <a:ext cx="10368280" cy="14875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800" b="0" dirty="0">
                <a:solidFill>
                  <a:srgbClr val="161616"/>
                </a:solidFill>
                <a:latin typeface="Arial"/>
              </a:rPr>
              <a:t>MSSV: 257480201085</a:t>
            </a:r>
          </a:p>
          <a:p>
            <a:pPr algn="l">
              <a:spcAft>
                <a:spcPts val="400"/>
              </a:spcAft>
            </a:pPr>
            <a:r>
              <a:rPr lang="en-US" sz="2800" dirty="0">
                <a:solidFill>
                  <a:srgbClr val="161616"/>
                </a:solidFill>
                <a:latin typeface="Arial"/>
              </a:rPr>
              <a:t>            </a:t>
            </a:r>
            <a:r>
              <a:rPr lang="en-US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257480201102</a:t>
            </a:r>
          </a:p>
          <a:p>
            <a:pPr algn="l">
              <a:spcAft>
                <a:spcPts val="400"/>
              </a:spcAft>
            </a:pPr>
            <a:r>
              <a:rPr lang="en-US" sz="2800" b="0" dirty="0">
                <a:solidFill>
                  <a:srgbClr val="1616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257480201016</a:t>
            </a:r>
            <a:endParaRPr sz="2800" b="0" dirty="0">
              <a:solidFill>
                <a:srgbClr val="1616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664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0">
                <a:solidFill>
                  <a:srgbClr val="161616"/>
                </a:solidFill>
                <a:latin typeface="Arial"/>
              </a:rPr>
              <a:t>NỘI DUNG TRÌNH BÀY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1097280" cy="82296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97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BE2323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14884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161616"/>
                </a:solidFill>
                <a:latin typeface="Arial"/>
              </a:rPr>
              <a:t>Bối cảnh &amp; mục tiêu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2807208"/>
            <a:ext cx="9144000" cy="228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1097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BE2323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347472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161616"/>
                </a:solidFill>
                <a:latin typeface="Arial"/>
              </a:rPr>
              <a:t>Dữ liệu &amp; cơ sở lý thuyết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4133087"/>
            <a:ext cx="9144000" cy="228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97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BE2323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480060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161616"/>
                </a:solidFill>
                <a:latin typeface="Arial"/>
              </a:rPr>
              <a:t>Giải pháp &amp; triển khai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5458968"/>
            <a:ext cx="9144000" cy="228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6126479"/>
            <a:ext cx="1097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BE2323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6126479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161616"/>
                </a:solidFill>
                <a:latin typeface="Arial"/>
              </a:rPr>
              <a:t>Thực nghiệm &amp; kết quả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6784847"/>
            <a:ext cx="9144000" cy="228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7452360"/>
            <a:ext cx="1097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BE2323"/>
                </a:solidFill>
                <a:latin typeface="Aria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745236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161616"/>
                </a:solidFill>
                <a:latin typeface="Arial"/>
              </a:rPr>
              <a:t>Hạn chế &amp; hướng phát triển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8110728"/>
            <a:ext cx="9144000" cy="2286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148840"/>
            <a:ext cx="4937760" cy="4937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962120" y="9646920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800" b="1">
                <a:solidFill>
                  <a:srgbClr val="BE2323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64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0">
                <a:solidFill>
                  <a:srgbClr val="161616"/>
                </a:solidFill>
                <a:latin typeface="Arial"/>
              </a:rPr>
              <a:t>BỐI CẢNH &amp; BÀI TOÁN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097280" cy="82296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7680960" cy="2926080"/>
          </a:xfrm>
          <a:prstGeom prst="round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7223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Vấn đề thực tiễn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98648"/>
            <a:ext cx="7223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Kho ảnh y tế ngày càng lớn.
Tìm kiếm theo tên file hoặc metadata chưa tận dụng trực tiếp nội dung hình ảnh.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2148840"/>
            <a:ext cx="7863840" cy="2926080"/>
          </a:xfrm>
          <a:prstGeom prst="round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0" y="2331720"/>
            <a:ext cx="7406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Bài toán CBMIR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898648"/>
            <a:ext cx="7406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Biểu diễn ảnh thành vector đặc trưng và tìm K ảnh gần nhất theo mức độ tương đồng.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BE2323"/>
                </a:solidFill>
                <a:latin typeface="Arial"/>
              </a:rPr>
              <a:t>Điểm chính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72200"/>
            <a:ext cx="1572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800" b="0" dirty="0">
                <a:solidFill>
                  <a:srgbClr val="161616"/>
                </a:solidFill>
                <a:latin typeface="Arial"/>
              </a:rPr>
              <a:t>•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Xây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dựng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prototype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bằng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Deep Learning.
•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truy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vấn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→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đặc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trưng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→ similarity → Top-K.
•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Đánh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giá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P@K, R@K,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mAP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và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thời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gian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truy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vấn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62120" y="9646920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800" b="1">
                <a:solidFill>
                  <a:srgbClr val="BE2323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32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64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0">
                <a:solidFill>
                  <a:srgbClr val="161616"/>
                </a:solidFill>
                <a:latin typeface="Arial"/>
              </a:rPr>
              <a:t>MỤC TIÊU &amp; Ý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097280" cy="82296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48839"/>
            <a:ext cx="6217920" cy="57703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42760" y="1683065"/>
            <a:ext cx="5120640" cy="3154681"/>
          </a:xfrm>
          <a:prstGeom prst="roundRect">
            <a:avLst>
              <a:gd name="adj" fmla="val 8951"/>
            </a:avLst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 b="0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68490" y="2124430"/>
            <a:ext cx="5554980" cy="278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2800" b="0" dirty="0">
                <a:solidFill>
                  <a:srgbClr val="161616"/>
                </a:solidFill>
                <a:latin typeface="Arial"/>
              </a:rPr>
              <a:t>• Pipeline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từ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truy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vấn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đến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Top-K.
• ResNet50 pretrained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làm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feature extractor.
• Embedding 2048D + L2 normalization.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03760" y="1640200"/>
            <a:ext cx="5486400" cy="3213451"/>
          </a:xfrm>
          <a:prstGeom prst="round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 b="0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555220" y="2419745"/>
            <a:ext cx="530352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dirty="0" err="1">
                <a:solidFill>
                  <a:srgbClr val="161616"/>
                </a:solidFill>
                <a:latin typeface="Arial"/>
              </a:rPr>
              <a:t>Hỗ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trợ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tìm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các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trường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hợp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hình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tương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tự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trong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kho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dữ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liệu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nghiên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cứu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;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không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thay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thế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chẩn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đoán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chuyên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môn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21170" y="5067769"/>
            <a:ext cx="5120640" cy="3270953"/>
          </a:xfrm>
          <a:prstGeom prst="round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 b="0" dirty="0">
              <a:solidFill>
                <a:srgbClr val="161616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2303760" y="5067770"/>
            <a:ext cx="5486400" cy="3329723"/>
          </a:xfrm>
          <a:prstGeom prst="round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733020" y="5202038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dirty="0" err="1">
                <a:solidFill>
                  <a:srgbClr val="BE2323"/>
                </a:solidFill>
                <a:latin typeface="Arial"/>
              </a:rPr>
              <a:t>Đánh</a:t>
            </a:r>
            <a:r>
              <a:rPr sz="28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BE2323"/>
                </a:solidFill>
                <a:latin typeface="Arial"/>
              </a:rPr>
              <a:t>giá</a:t>
            </a:r>
            <a:endParaRPr sz="28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84480" y="6126663"/>
            <a:ext cx="4343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dirty="0">
                <a:solidFill>
                  <a:srgbClr val="161616"/>
                </a:solidFill>
                <a:latin typeface="Arial"/>
              </a:rPr>
              <a:t>Leave-one-out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trên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toàn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bộ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295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endParaRPr sz="2800" b="0" dirty="0">
              <a:solidFill>
                <a:srgbClr val="16161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60220" y="8397493"/>
            <a:ext cx="1554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dirty="0" err="1">
                <a:solidFill>
                  <a:srgbClr val="BE2323"/>
                </a:solidFill>
                <a:latin typeface="Arial"/>
              </a:rPr>
              <a:t>Phạm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vi: prototype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nghiên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cứu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,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không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sử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dụng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như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hệ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thống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chẩn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đoán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lâm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sàng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62120" y="9646920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800" b="1">
                <a:solidFill>
                  <a:srgbClr val="BE2323"/>
                </a:solidFill>
                <a:latin typeface="Arial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04CB08-775F-7AEE-5301-9970FC249BDC}"/>
              </a:ext>
            </a:extLst>
          </p:cNvPr>
          <p:cNvSpPr txBox="1"/>
          <p:nvPr/>
        </p:nvSpPr>
        <p:spPr>
          <a:xfrm>
            <a:off x="7073900" y="1683065"/>
            <a:ext cx="4343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800" b="1" dirty="0" err="1">
                <a:solidFill>
                  <a:srgbClr val="BE2323"/>
                </a:solidFill>
                <a:latin typeface="Arial"/>
              </a:rPr>
              <a:t>Mục</a:t>
            </a:r>
            <a:r>
              <a:rPr lang="en-US" sz="2800" b="1" dirty="0">
                <a:solidFill>
                  <a:srgbClr val="BE2323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BE2323"/>
                </a:solidFill>
                <a:latin typeface="Arial"/>
              </a:rPr>
              <a:t>tiêu</a:t>
            </a:r>
            <a:r>
              <a:rPr lang="en-US" sz="2800" b="1" dirty="0">
                <a:solidFill>
                  <a:srgbClr val="BE2323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BE2323"/>
                </a:solidFill>
                <a:latin typeface="Arial"/>
              </a:rPr>
              <a:t>nghiên</a:t>
            </a:r>
            <a:r>
              <a:rPr lang="en-US" sz="2800" b="1" dirty="0">
                <a:solidFill>
                  <a:srgbClr val="BE2323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BE2323"/>
                </a:solidFill>
                <a:latin typeface="Arial"/>
              </a:rPr>
              <a:t>cứu</a:t>
            </a:r>
            <a:endParaRPr sz="28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20235A-7913-DD0D-24EB-5679EC307443}"/>
              </a:ext>
            </a:extLst>
          </p:cNvPr>
          <p:cNvSpPr txBox="1"/>
          <p:nvPr/>
        </p:nvSpPr>
        <p:spPr>
          <a:xfrm>
            <a:off x="7245350" y="5182428"/>
            <a:ext cx="4343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800" b="1" dirty="0" err="1">
                <a:solidFill>
                  <a:srgbClr val="BE2323"/>
                </a:solidFill>
                <a:latin typeface="Arial"/>
              </a:rPr>
              <a:t>Điểm</a:t>
            </a:r>
            <a:r>
              <a:rPr lang="en-US" sz="2800" b="1" dirty="0">
                <a:solidFill>
                  <a:srgbClr val="BE2323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BE2323"/>
                </a:solidFill>
                <a:latin typeface="Arial"/>
              </a:rPr>
              <a:t>chính</a:t>
            </a:r>
            <a:endParaRPr sz="28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279693-E936-4799-A68E-2299ED3C503A}"/>
              </a:ext>
            </a:extLst>
          </p:cNvPr>
          <p:cNvSpPr txBox="1"/>
          <p:nvPr/>
        </p:nvSpPr>
        <p:spPr>
          <a:xfrm>
            <a:off x="12679680" y="1773936"/>
            <a:ext cx="4343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800" b="1" dirty="0">
                <a:solidFill>
                  <a:srgbClr val="BE2323"/>
                </a:solidFill>
                <a:latin typeface="Arial"/>
              </a:rPr>
              <a:t>Ý </a:t>
            </a:r>
            <a:r>
              <a:rPr lang="en-US" sz="2800" b="1" dirty="0" err="1">
                <a:solidFill>
                  <a:srgbClr val="BE2323"/>
                </a:solidFill>
                <a:latin typeface="Arial"/>
              </a:rPr>
              <a:t>nghĩa</a:t>
            </a:r>
            <a:endParaRPr sz="28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BC500C-9265-6E27-5DF9-188D78BB967B}"/>
              </a:ext>
            </a:extLst>
          </p:cNvPr>
          <p:cNvSpPr txBox="1"/>
          <p:nvPr/>
        </p:nvSpPr>
        <p:spPr>
          <a:xfrm>
            <a:off x="7249160" y="5695976"/>
            <a:ext cx="4343400" cy="22980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2800" dirty="0">
                <a:solidFill>
                  <a:srgbClr val="161616"/>
                </a:solidFill>
                <a:latin typeface="Arial"/>
              </a:rPr>
              <a:t>- </a:t>
            </a:r>
            <a:r>
              <a:rPr lang="vi-VN" sz="2800" b="0" dirty="0">
                <a:solidFill>
                  <a:srgbClr val="161616"/>
                </a:solidFill>
                <a:latin typeface="Arial"/>
              </a:rPr>
              <a:t>Prototype nghiên cứu — không sử dụng similarity như kết luận bệnh học.</a:t>
            </a:r>
          </a:p>
          <a:p>
            <a:pPr algn="l">
              <a:spcAft>
                <a:spcPts val="400"/>
              </a:spcAft>
            </a:pPr>
            <a:r>
              <a:rPr lang="en-US" sz="2800" b="0" dirty="0">
                <a:solidFill>
                  <a:srgbClr val="161616"/>
                </a:solidFill>
                <a:latin typeface="Arial"/>
              </a:rPr>
              <a:t>- </a:t>
            </a:r>
            <a:r>
              <a:rPr lang="vi-VN" sz="2800" b="0" dirty="0">
                <a:solidFill>
                  <a:srgbClr val="161616"/>
                </a:solidFill>
                <a:latin typeface="Arial"/>
              </a:rPr>
              <a:t>Chest X-Ray Images (Pneumonia)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64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0">
                <a:solidFill>
                  <a:srgbClr val="161616"/>
                </a:solidFill>
                <a:latin typeface="Arial"/>
              </a:rPr>
              <a:t>DỮ LIỆU THỰC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097280" cy="82296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2148840"/>
            <a:ext cx="6766560" cy="61276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0" y="2057400"/>
            <a:ext cx="4297680" cy="1874519"/>
          </a:xfrm>
          <a:prstGeom prst="round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224028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07208"/>
            <a:ext cx="384048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Chest X-Ray Images (Pneumonia)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15800" y="2057400"/>
            <a:ext cx="5801360" cy="1874519"/>
          </a:xfrm>
          <a:prstGeom prst="round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0" y="2240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Quy mô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0" y="2720777"/>
            <a:ext cx="5572760" cy="1005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2800" b="0" dirty="0">
                <a:solidFill>
                  <a:srgbClr val="161616"/>
                </a:solidFill>
                <a:latin typeface="Arial"/>
              </a:rPr>
              <a:t>295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
145 NORMAL </a:t>
            </a:r>
            <a:r>
              <a:rPr lang="en-US" sz="2800" dirty="0">
                <a:solidFill>
                  <a:srgbClr val="161616"/>
                </a:solidFill>
                <a:latin typeface="Arial"/>
              </a:rPr>
              <a:t>+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150</a:t>
            </a:r>
            <a:r>
              <a:rPr lang="en-US"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PNEUMONIA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251960"/>
            <a:ext cx="4297680" cy="1874519"/>
          </a:xfrm>
          <a:prstGeom prst="round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443484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Ground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001768"/>
            <a:ext cx="443484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cùng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lớp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với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query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được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xem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là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relevant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115800" y="4251960"/>
            <a:ext cx="5801360" cy="1874519"/>
          </a:xfrm>
          <a:prstGeom prst="round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0" y="44348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Đánh giá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0" y="4981449"/>
            <a:ext cx="539496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dirty="0">
                <a:solidFill>
                  <a:srgbClr val="161616"/>
                </a:solidFill>
                <a:latin typeface="Arial"/>
              </a:rPr>
              <a:t>Leave-one-out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trên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toàn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bộ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295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endParaRPr sz="2800" b="0" dirty="0">
              <a:solidFill>
                <a:srgbClr val="16161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20240" y="8720797"/>
            <a:ext cx="15544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 dirty="0" err="1">
                <a:solidFill>
                  <a:srgbClr val="BE2323"/>
                </a:solidFill>
                <a:latin typeface="Arial"/>
              </a:rPr>
              <a:t>Dữ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liệu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được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cân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bằng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thủ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công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;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số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liệu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lấy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từ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chương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trình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chạy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trên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dataset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thực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tế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62120" y="9646920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800" b="1">
                <a:solidFill>
                  <a:srgbClr val="BE2323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64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0">
                <a:solidFill>
                  <a:srgbClr val="161616"/>
                </a:solidFill>
                <a:latin typeface="Arial"/>
              </a:rPr>
              <a:t>CBMIR: INPUT →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097280" cy="82296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7315200" cy="7360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2103120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BE2323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743200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Ảnh y tế do người dùng cung cấp.
↓
Preprocessing
↓
Feature Vector 2048D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0" y="2103120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BE2323"/>
                </a:solidFill>
                <a:latin typeface="Arial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0" y="274320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Similarity với database.
↓
Ranking
↓
Top-K ảnh tương tự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6583680"/>
            <a:ext cx="1645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 dirty="0">
                <a:solidFill>
                  <a:srgbClr val="161616"/>
                </a:solidFill>
                <a:latin typeface="Arial"/>
              </a:rPr>
              <a:t>Visual content → vector → so </a:t>
            </a:r>
            <a:r>
              <a:rPr sz="3000" b="0" dirty="0" err="1">
                <a:solidFill>
                  <a:srgbClr val="161616"/>
                </a:solidFill>
                <a:latin typeface="Arial"/>
              </a:rPr>
              <a:t>sánh</a:t>
            </a:r>
            <a:r>
              <a:rPr sz="3000" b="0" dirty="0">
                <a:solidFill>
                  <a:srgbClr val="161616"/>
                </a:solidFill>
                <a:latin typeface="Arial"/>
              </a:rPr>
              <a:t> → </a:t>
            </a:r>
            <a:r>
              <a:rPr sz="3000" b="0" dirty="0" err="1">
                <a:solidFill>
                  <a:srgbClr val="161616"/>
                </a:solidFill>
                <a:latin typeface="Arial"/>
              </a:rPr>
              <a:t>xếp</a:t>
            </a:r>
            <a:r>
              <a:rPr sz="30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000" b="0" dirty="0" err="1">
                <a:solidFill>
                  <a:srgbClr val="161616"/>
                </a:solidFill>
                <a:latin typeface="Arial"/>
              </a:rPr>
              <a:t>hạng</a:t>
            </a:r>
            <a:endParaRPr sz="3000" b="0" dirty="0">
              <a:solidFill>
                <a:srgbClr val="161616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962120" y="9646920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800" b="1">
                <a:solidFill>
                  <a:srgbClr val="BE2323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64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0">
                <a:solidFill>
                  <a:srgbClr val="161616"/>
                </a:solidFill>
                <a:latin typeface="Arial"/>
              </a:rPr>
              <a:t>CƠ SỞ LÝ THUYẾT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097280" cy="82296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7498079" cy="6537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210312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BE2323"/>
                </a:solidFill>
                <a:latin typeface="Arial"/>
              </a:rPr>
              <a:t>AI → ML → 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697480"/>
            <a:ext cx="3657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AI: xử lý nhiệm vụ cần năng lực thông minh.
ML: học quy luật từ dữ liệu.
DL: mạng nhiều tầng học biểu diễn.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81560" y="210312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BE2323"/>
                </a:solidFill>
                <a:latin typeface="Arial"/>
              </a:rPr>
              <a:t>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81560" y="26974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CNN khai thác cấu trúc không gian của ảnh qua convolution; nhiều tầng tạo đặc trưng phức tạp hơn.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5965939"/>
            <a:ext cx="8046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 dirty="0">
                <a:solidFill>
                  <a:srgbClr val="BE2323"/>
                </a:solidFill>
                <a:latin typeface="Arial"/>
              </a:rPr>
              <a:t>Vai </a:t>
            </a:r>
            <a:r>
              <a:rPr sz="3000" b="0" dirty="0" err="1">
                <a:solidFill>
                  <a:srgbClr val="BE2323"/>
                </a:solidFill>
                <a:latin typeface="Arial"/>
              </a:rPr>
              <a:t>trò</a:t>
            </a:r>
            <a:endParaRPr sz="3000" b="0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33238" y="6629400"/>
            <a:ext cx="6519203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800" b="0" dirty="0">
                <a:solidFill>
                  <a:srgbClr val="161616"/>
                </a:solidFill>
                <a:latin typeface="Arial"/>
              </a:rPr>
              <a:t>Deep Learning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biến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thành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biểu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diễn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số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để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máy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tính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có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thể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so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sánh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10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64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0">
                <a:solidFill>
                  <a:srgbClr val="161616"/>
                </a:solidFill>
                <a:latin typeface="Arial"/>
              </a:rPr>
              <a:t>RESNET50 &amp; FEATURE EMBEDDING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097280" cy="82296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616"/>
                </a:solidFill>
                <a:latin typeface="Arial"/>
              </a:rPr>
              <a:t>So sánh 3 metric trên ResNet50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3383280" cy="685800"/>
          </a:xfrm>
          <a:prstGeom prst="rect">
            <a:avLst/>
          </a:prstGeom>
          <a:solidFill>
            <a:srgbClr val="1616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dirty="0">
                <a:solidFill>
                  <a:schemeClr val="bg1"/>
                </a:solidFill>
                <a:latin typeface="Arial"/>
              </a:rPr>
              <a:t>ResNet50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697480"/>
            <a:ext cx="1828800" cy="685800"/>
          </a:xfrm>
          <a:prstGeom prst="rect">
            <a:avLst/>
          </a:prstGeom>
          <a:solidFill>
            <a:srgbClr val="1616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2807208"/>
            <a:ext cx="182880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 dirty="0">
                <a:solidFill>
                  <a:schemeClr val="bg1"/>
                </a:solidFill>
                <a:latin typeface="Arial"/>
              </a:rPr>
              <a:t>Residual</a:t>
            </a:r>
            <a:r>
              <a:rPr sz="2800" b="0" dirty="0">
                <a:solidFill>
                  <a:srgbClr val="BE2323"/>
                </a:solidFill>
                <a:latin typeface="Arial"/>
              </a:rPr>
              <a:t> Skip Connection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697480"/>
            <a:ext cx="1828800" cy="685800"/>
          </a:xfrm>
          <a:prstGeom prst="rect">
            <a:avLst/>
          </a:prstGeom>
          <a:solidFill>
            <a:srgbClr val="1616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 b="0" dirty="0">
              <a:solidFill>
                <a:srgbClr val="161616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2807208"/>
            <a:ext cx="182880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 dirty="0">
                <a:solidFill>
                  <a:schemeClr val="bg1"/>
                </a:solidFill>
                <a:latin typeface="Arial"/>
              </a:rPr>
              <a:t>Feature</a:t>
            </a:r>
            <a:r>
              <a:rPr sz="3000" b="0" dirty="0">
                <a:solidFill>
                  <a:srgbClr val="BE2323"/>
                </a:solidFill>
                <a:latin typeface="Arial"/>
              </a:rPr>
              <a:t>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697480"/>
            <a:ext cx="1920240" cy="685800"/>
          </a:xfrm>
          <a:prstGeom prst="rect">
            <a:avLst/>
          </a:prstGeom>
          <a:solidFill>
            <a:srgbClr val="1616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 b="0" dirty="0">
              <a:solidFill>
                <a:srgbClr val="161616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03920" y="280720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P@10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2697480"/>
            <a:ext cx="1920240" cy="685800"/>
          </a:xfrm>
          <a:prstGeom prst="rect">
            <a:avLst/>
          </a:prstGeom>
          <a:solidFill>
            <a:srgbClr val="1616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280720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R@10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84480" y="2697480"/>
            <a:ext cx="1920240" cy="685800"/>
          </a:xfrm>
          <a:prstGeom prst="rect">
            <a:avLst/>
          </a:prstGeom>
          <a:solidFill>
            <a:srgbClr val="1616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0" y="280720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mAP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950440" y="2697480"/>
            <a:ext cx="1828800" cy="685800"/>
          </a:xfrm>
          <a:prstGeom prst="rect">
            <a:avLst/>
          </a:prstGeom>
          <a:solidFill>
            <a:srgbClr val="1616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950440" y="280720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ms/query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383280"/>
            <a:ext cx="338328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538728"/>
            <a:ext cx="3383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BE2323"/>
                </a:solidFill>
                <a:latin typeface="Arial"/>
              </a:rPr>
              <a:t>Cosine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383280"/>
            <a:ext cx="182880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06240" y="353872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0,8298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383280"/>
            <a:ext cx="182880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53872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0,0284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383280"/>
            <a:ext cx="192024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3538728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0,8105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9920" y="3383280"/>
            <a:ext cx="192024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20" y="3538728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0,0554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984480" y="3383280"/>
            <a:ext cx="192024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984480" y="3538728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0,7056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950440" y="3383280"/>
            <a:ext cx="182880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950440" y="353872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0,181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160520"/>
            <a:ext cx="33832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315968"/>
            <a:ext cx="3383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BE2323"/>
                </a:solidFill>
                <a:latin typeface="Arial"/>
              </a:rPr>
              <a:t>Euclidean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4160520"/>
            <a:ext cx="18288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06240" y="431596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0,8298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160520"/>
            <a:ext cx="18288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431596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0,0284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4160520"/>
            <a:ext cx="1920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0" y="4315968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0,8105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789920" y="4160520"/>
            <a:ext cx="1920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89920" y="4315968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0,0554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984480" y="4160520"/>
            <a:ext cx="1920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984480" y="4315968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0,7056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950440" y="4160520"/>
            <a:ext cx="18288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950440" y="431596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2,782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937760"/>
            <a:ext cx="338328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7240" y="5093208"/>
            <a:ext cx="3383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BE2323"/>
                </a:solidFill>
                <a:latin typeface="Arial"/>
              </a:rPr>
              <a:t>Manhattan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937760"/>
            <a:ext cx="182880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06240" y="509320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0,8278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937760"/>
            <a:ext cx="182880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509320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0,0283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4937760"/>
            <a:ext cx="192024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0" y="5093208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0,8180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789920" y="4937760"/>
            <a:ext cx="192024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789920" y="5093208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0,0559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984480" y="4937760"/>
            <a:ext cx="192024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2984480" y="5093208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0,7121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950440" y="4937760"/>
            <a:ext cx="1828800" cy="777240"/>
          </a:xfrm>
          <a:prstGeom prst="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4950440" y="509320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161616"/>
                </a:solidFill>
                <a:latin typeface="Arial"/>
              </a:rPr>
              <a:t>2,707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589788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BE2323"/>
                </a:solidFill>
                <a:latin typeface="Arial"/>
              </a:rPr>
              <a:t>Kết luận chính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6446520"/>
            <a:ext cx="1572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800" dirty="0">
                <a:solidFill>
                  <a:srgbClr val="161616"/>
                </a:solidFill>
                <a:latin typeface="Arial"/>
              </a:rPr>
              <a:t>• P@5 ≈ 0,83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và</a:t>
            </a:r>
            <a:r>
              <a:rPr sz="2800" dirty="0">
                <a:solidFill>
                  <a:srgbClr val="161616"/>
                </a:solidFill>
                <a:latin typeface="Arial"/>
              </a:rPr>
              <a:t> P@10 ≈ 0,81,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cao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hơn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rõ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rệt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mốc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ngẫu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nhiên</a:t>
            </a:r>
            <a:r>
              <a:rPr sz="2800" dirty="0">
                <a:solidFill>
                  <a:srgbClr val="161616"/>
                </a:solidFill>
                <a:latin typeface="Arial"/>
              </a:rPr>
              <a:t> 0,5.</a:t>
            </a:r>
          </a:p>
          <a:p>
            <a:pPr>
              <a:spcAft>
                <a:spcPts val="700"/>
              </a:spcAft>
            </a:pPr>
            <a:r>
              <a:rPr sz="2800" dirty="0">
                <a:solidFill>
                  <a:srgbClr val="161616"/>
                </a:solidFill>
                <a:latin typeface="Arial"/>
              </a:rPr>
              <a:t>• Cosine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và</a:t>
            </a:r>
            <a:r>
              <a:rPr sz="2800" dirty="0">
                <a:solidFill>
                  <a:srgbClr val="161616"/>
                </a:solidFill>
                <a:latin typeface="Arial"/>
              </a:rPr>
              <a:t> Euclidean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cho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thứ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tự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xếp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hạng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tương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đương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sau</a:t>
            </a:r>
            <a:r>
              <a:rPr sz="2800" dirty="0">
                <a:solidFill>
                  <a:srgbClr val="161616"/>
                </a:solidFill>
                <a:latin typeface="Arial"/>
              </a:rPr>
              <a:t> L2-normalize.</a:t>
            </a:r>
          </a:p>
          <a:p>
            <a:pPr>
              <a:spcAft>
                <a:spcPts val="700"/>
              </a:spcAft>
            </a:pPr>
            <a:r>
              <a:rPr sz="2800" dirty="0">
                <a:solidFill>
                  <a:srgbClr val="161616"/>
                </a:solidFill>
                <a:latin typeface="Arial"/>
              </a:rPr>
              <a:t>• Manhattan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nhỉnh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hơn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nhẹ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về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mAP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nhưng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chênh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lệch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nhỏ</a:t>
            </a:r>
            <a:r>
              <a:rPr sz="2800" dirty="0">
                <a:solidFill>
                  <a:srgbClr val="161616"/>
                </a:solidFill>
                <a:latin typeface="Arial"/>
              </a:rPr>
              <a:t>.</a:t>
            </a:r>
          </a:p>
          <a:p>
            <a:pPr>
              <a:spcAft>
                <a:spcPts val="700"/>
              </a:spcAft>
            </a:pPr>
            <a:r>
              <a:rPr sz="2800" dirty="0">
                <a:solidFill>
                  <a:srgbClr val="161616"/>
                </a:solidFill>
                <a:latin typeface="Arial"/>
              </a:rPr>
              <a:t>• Cosine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nhanh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nhất</a:t>
            </a:r>
            <a:r>
              <a:rPr sz="2800" dirty="0">
                <a:solidFill>
                  <a:srgbClr val="161616"/>
                </a:solidFill>
                <a:latin typeface="Arial"/>
              </a:rPr>
              <a:t>: 0,181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ms</a:t>
            </a:r>
            <a:r>
              <a:rPr sz="2800" dirty="0">
                <a:solidFill>
                  <a:srgbClr val="161616"/>
                </a:solidFill>
                <a:latin typeface="Arial"/>
              </a:rPr>
              <a:t>/query; indexing 295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khoảng</a:t>
            </a:r>
            <a:r>
              <a:rPr sz="2800" dirty="0">
                <a:solidFill>
                  <a:srgbClr val="161616"/>
                </a:solidFill>
                <a:latin typeface="Arial"/>
              </a:rPr>
              <a:t> 99,7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giây</a:t>
            </a:r>
            <a:r>
              <a:rPr sz="280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161616"/>
                </a:solidFill>
                <a:latin typeface="Arial"/>
              </a:rPr>
              <a:t>trên</a:t>
            </a:r>
            <a:r>
              <a:rPr sz="2800" dirty="0">
                <a:solidFill>
                  <a:srgbClr val="161616"/>
                </a:solidFill>
                <a:latin typeface="Arial"/>
              </a:rPr>
              <a:t> CPU.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962120" y="9646920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800" b="1">
                <a:solidFill>
                  <a:srgbClr val="BE2323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0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64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0">
                <a:solidFill>
                  <a:srgbClr val="161616"/>
                </a:solidFill>
                <a:latin typeface="Arial"/>
              </a:rPr>
              <a:t>CHUẨN HÓA &amp; ĐO TƯƠNG ĐỒNG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097280" cy="82296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750" y="3147764"/>
            <a:ext cx="7863840" cy="4480560"/>
          </a:xfrm>
          <a:prstGeom prst="round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15637" y="3684778"/>
            <a:ext cx="7406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L2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74066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dirty="0" err="1">
                <a:solidFill>
                  <a:srgbClr val="161616"/>
                </a:solidFill>
                <a:latin typeface="Arial"/>
              </a:rPr>
              <a:t>Chuẩn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hóa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vector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về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độ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dài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đơn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vị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để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thuận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tiện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so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sánh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3193483"/>
            <a:ext cx="7863840" cy="4480560"/>
          </a:xfrm>
          <a:prstGeom prst="roundRect">
            <a:avLst/>
          </a:prstGeom>
          <a:solidFill>
            <a:srgbClr val="F6F6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0" y="4062164"/>
            <a:ext cx="7406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dirty="0">
                <a:solidFill>
                  <a:srgbClr val="BE2323"/>
                </a:solidFill>
                <a:latin typeface="Arial"/>
              </a:rPr>
              <a:t>Cosine Similarity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766637"/>
            <a:ext cx="74066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dirty="0" err="1">
                <a:solidFill>
                  <a:srgbClr val="161616"/>
                </a:solidFill>
                <a:latin typeface="Arial"/>
              </a:rPr>
              <a:t>Đo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mức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độ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gần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nhau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về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hướng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giữa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hai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vector.
Sau L2-normalize: cosine ≡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tích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vô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hướng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6629400" y="5433763"/>
            <a:ext cx="1627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 dirty="0">
                <a:solidFill>
                  <a:srgbClr val="BE2323"/>
                </a:solidFill>
                <a:latin typeface="Arial"/>
              </a:rPr>
              <a:t>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637" y="5995778"/>
            <a:ext cx="7295606" cy="14362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2800" b="0" dirty="0">
                <a:solidFill>
                  <a:srgbClr val="161616"/>
                </a:solidFill>
                <a:latin typeface="Arial"/>
              </a:rPr>
              <a:t>• Cosine: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xếp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giảm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dần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similarity.
• Euclidean / Manhattan: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xếp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tăng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dần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distance.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210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BE2323"/>
                </a:solidFill>
                <a:latin typeface="Arial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95912"/>
            <a:ext cx="1097280" cy="82296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3800" b="0" dirty="0">
              <a:solidFill>
                <a:srgbClr val="161616"/>
              </a:solidFill>
              <a:latin typeface="Arial"/>
            </a:endParaRP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87601"/>
            <a:ext cx="50292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21488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616"/>
                </a:solidFill>
                <a:latin typeface="Arial"/>
              </a:rPr>
              <a:t>Hệ thống đã xây dựng được pipeline CBMIR hoàn chỉnh: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502201"/>
            <a:ext cx="10058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3000" b="0" dirty="0">
                <a:solidFill>
                  <a:srgbClr val="BE2323"/>
                </a:solidFill>
                <a:latin typeface="Arial"/>
              </a:rPr>
              <a:t>INDEXING OFFLINE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208956"/>
            <a:ext cx="12344400" cy="19697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2800" b="0" dirty="0">
                <a:solidFill>
                  <a:srgbClr val="161616"/>
                </a:solidFill>
                <a:latin typeface="Arial"/>
              </a:rPr>
              <a:t>•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Toàn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bộ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kho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
• Preprocessing + ResNet50
• L2 normalize
•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Lưu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feature + 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2126" y="355350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 dirty="0">
                <a:solidFill>
                  <a:srgbClr val="BE2323"/>
                </a:solidFill>
                <a:latin typeface="Arial"/>
              </a:rPr>
              <a:t>QUERY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168645"/>
            <a:ext cx="886206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3000" b="0" dirty="0">
                <a:solidFill>
                  <a:srgbClr val="161616"/>
                </a:solidFill>
                <a:latin typeface="Arial"/>
              </a:rPr>
              <a:t> → Preprocessing → ResNet50 → Vector → Similarity → Ranking → Top-K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2BB4C5-4515-F481-ED36-F541CBD6B9BF}"/>
              </a:ext>
            </a:extLst>
          </p:cNvPr>
          <p:cNvSpPr txBox="1"/>
          <p:nvPr/>
        </p:nvSpPr>
        <p:spPr>
          <a:xfrm>
            <a:off x="685800" y="1252710"/>
            <a:ext cx="5836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KIẾN TRÚC HỆ THỐNG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93192"/>
            <a:ext cx="73152" cy="502920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276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161616"/>
                </a:solidFill>
                <a:latin typeface="Arial"/>
              </a:rPr>
              <a:t>THUẬT TOÁN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188" y="2150627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Đầu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vào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926461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 err="1">
                <a:solidFill>
                  <a:srgbClr val="161616"/>
                </a:solidFill>
                <a:latin typeface="Arial"/>
              </a:rPr>
              <a:t>Thư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mục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D
→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đọc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
→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187" y="4784919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Xử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lý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399" y="5465373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161616"/>
                </a:solidFill>
                <a:latin typeface="Arial"/>
              </a:rPr>
              <a:t>ResNet50 → embedding 2048D
→ L2 normalize
→ feature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189" y="7701701"/>
            <a:ext cx="61450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Đầu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ra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: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features.npy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+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paths.npy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+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labels.npy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+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62120" y="9646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682D47-D2D8-32F7-6022-96844CB2E667}"/>
              </a:ext>
            </a:extLst>
          </p:cNvPr>
          <p:cNvSpPr txBox="1"/>
          <p:nvPr/>
        </p:nvSpPr>
        <p:spPr>
          <a:xfrm>
            <a:off x="9362183" y="2814280"/>
            <a:ext cx="7178039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705" marR="0" indent="90805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1. Load ResNet50 pretrained.</a:t>
            </a:r>
          </a:p>
          <a:p>
            <a:pPr marL="179705" marR="0" indent="90805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2.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Bỏ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lớp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classifier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cuối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.</a:t>
            </a:r>
          </a:p>
          <a:p>
            <a:pPr marL="179705" marR="0" indent="90805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3.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Với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mỗi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ảnh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I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trong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D:</a:t>
            </a:r>
          </a:p>
          <a:p>
            <a:pPr marL="179705" marR="0" indent="270510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  a. Preprocess(I)</a:t>
            </a:r>
          </a:p>
          <a:p>
            <a:pPr marL="179705" marR="0" indent="270510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  b. f = ResNet50(I)</a:t>
            </a:r>
          </a:p>
          <a:p>
            <a:pPr marL="179705" marR="0" indent="270510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  c. f = L2Normalize(f)</a:t>
            </a:r>
          </a:p>
          <a:p>
            <a:pPr marL="179705" marR="0" indent="270510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  d.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lưu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f</a:t>
            </a:r>
          </a:p>
          <a:p>
            <a:pPr marL="179705" marR="0" indent="90805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4.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Ghép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các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f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thành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ma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trận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F.</a:t>
            </a:r>
          </a:p>
          <a:p>
            <a:pPr marL="179705" marR="0" indent="90805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5.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Lưu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F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và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metadata.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670D45-7FE9-D5EC-F271-C81AFF9A5BD6}"/>
              </a:ext>
            </a:extLst>
          </p:cNvPr>
          <p:cNvSpPr txBox="1"/>
          <p:nvPr/>
        </p:nvSpPr>
        <p:spPr>
          <a:xfrm>
            <a:off x="8823960" y="2150627"/>
            <a:ext cx="74980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rgbClr val="BE2323"/>
                </a:solidFill>
                <a:latin typeface="Arial"/>
              </a:rPr>
              <a:t>Các</a:t>
            </a:r>
            <a:r>
              <a:rPr lang="en-US"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lang="en-US" sz="3000" b="1" dirty="0" err="1">
                <a:solidFill>
                  <a:srgbClr val="BE2323"/>
                </a:solidFill>
                <a:latin typeface="Arial"/>
              </a:rPr>
              <a:t>bước</a:t>
            </a:r>
            <a:r>
              <a:rPr lang="en-US"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lang="en-US" sz="3000" b="1" dirty="0" err="1">
                <a:solidFill>
                  <a:srgbClr val="BE2323"/>
                </a:solidFill>
                <a:latin typeface="Arial"/>
              </a:rPr>
              <a:t>xử</a:t>
            </a:r>
            <a:r>
              <a:rPr lang="en-US"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lang="en-US" sz="3000" b="1" dirty="0" err="1">
                <a:solidFill>
                  <a:srgbClr val="BE2323"/>
                </a:solidFill>
                <a:latin typeface="Arial"/>
              </a:rPr>
              <a:t>lý</a:t>
            </a:r>
            <a:r>
              <a:rPr lang="en-US" sz="3000" b="1" dirty="0">
                <a:solidFill>
                  <a:srgbClr val="BE2323"/>
                </a:solidFill>
                <a:latin typeface="Arial"/>
              </a:rPr>
              <a:t>: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93192"/>
            <a:ext cx="73152" cy="502920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89561"/>
            <a:ext cx="16276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161616"/>
                </a:solidFill>
                <a:latin typeface="Arial"/>
              </a:rPr>
              <a:t>THUẬT TOÁN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592" y="2544041"/>
            <a:ext cx="74980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Bước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1</a:t>
            </a:r>
            <a:r>
              <a:rPr lang="en-US" sz="3000" b="1" dirty="0">
                <a:solidFill>
                  <a:srgbClr val="BE2323"/>
                </a:solidFill>
                <a:latin typeface="Arial"/>
              </a:rPr>
              <a:t>: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399" y="3339007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 err="1">
                <a:solidFill>
                  <a:srgbClr val="161616"/>
                </a:solidFill>
                <a:latin typeface="Arial"/>
              </a:rPr>
              <a:t>Nhận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Q
→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cùng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preprocessing
→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cùng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ResNet50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591" y="5306673"/>
            <a:ext cx="74980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Bước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2</a:t>
            </a:r>
            <a:r>
              <a:rPr lang="en-US" sz="3000" b="1" dirty="0">
                <a:solidFill>
                  <a:srgbClr val="BE2323"/>
                </a:solidFill>
                <a:latin typeface="Arial"/>
              </a:rPr>
              <a:t>: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6188479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161616"/>
                </a:solidFill>
                <a:latin typeface="Arial"/>
              </a:rPr>
              <a:t>L2-normalize query
→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tính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score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với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vector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592" y="7828337"/>
            <a:ext cx="7315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Bước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3: sort score →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lấy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K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phần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tử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đầu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→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trả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về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path + score +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62120" y="9646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423CA5-1372-2AFE-D285-10023E49BD81}"/>
              </a:ext>
            </a:extLst>
          </p:cNvPr>
          <p:cNvSpPr txBox="1"/>
          <p:nvPr/>
        </p:nvSpPr>
        <p:spPr>
          <a:xfrm>
            <a:off x="9252353" y="3390720"/>
            <a:ext cx="7273401" cy="6114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9705" marR="0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INPUT: query Q, feature matrix F, K</a:t>
            </a:r>
          </a:p>
          <a:p>
            <a:pPr marL="179705" marR="0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OUTPUT: Top-K images</a:t>
            </a:r>
          </a:p>
          <a:p>
            <a:pPr marL="179705" marR="0" indent="90805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1. q =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ExtractFeature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(Q)</a:t>
            </a:r>
          </a:p>
          <a:p>
            <a:pPr marL="179705" marR="0" indent="90805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2. q = L2Normalize(q)</a:t>
            </a:r>
          </a:p>
          <a:p>
            <a:pPr marL="179705" marR="0" indent="90805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3. score[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i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] = F[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i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] dot q</a:t>
            </a:r>
          </a:p>
          <a:p>
            <a:pPr marL="179705" marR="0" indent="90805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4.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Sắp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xếp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score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giảm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dần</a:t>
            </a:r>
            <a:endParaRPr lang="en-US" sz="30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179705" marR="0" indent="90805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5.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Lấy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K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phần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tử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đầu</a:t>
            </a:r>
            <a:endParaRPr lang="en-US" sz="30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179705" marR="0" indent="90805" algn="just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6.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Trả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về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path, score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và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ảnh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tương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000" dirty="0" err="1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ứng</a:t>
            </a:r>
            <a:r>
              <a:rPr lang="en-US" sz="3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CBEF9-41CE-9158-4C43-79B92D376EBD}"/>
              </a:ext>
            </a:extLst>
          </p:cNvPr>
          <p:cNvSpPr txBox="1"/>
          <p:nvPr/>
        </p:nvSpPr>
        <p:spPr>
          <a:xfrm>
            <a:off x="9144000" y="2544041"/>
            <a:ext cx="74980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rgbClr val="BE2323"/>
                </a:solidFill>
                <a:latin typeface="Arial"/>
              </a:rPr>
              <a:t>Các</a:t>
            </a:r>
            <a:r>
              <a:rPr lang="en-US"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lang="en-US" sz="3000" b="1" dirty="0" err="1">
                <a:solidFill>
                  <a:srgbClr val="BE2323"/>
                </a:solidFill>
                <a:latin typeface="Arial"/>
              </a:rPr>
              <a:t>bước</a:t>
            </a:r>
            <a:r>
              <a:rPr lang="en-US"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lang="en-US" sz="3000" b="1" dirty="0" err="1">
                <a:solidFill>
                  <a:srgbClr val="BE2323"/>
                </a:solidFill>
                <a:latin typeface="Arial"/>
              </a:rPr>
              <a:t>xử</a:t>
            </a:r>
            <a:r>
              <a:rPr lang="en-US"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lang="en-US" sz="3000" b="1" dirty="0" err="1">
                <a:solidFill>
                  <a:srgbClr val="BE2323"/>
                </a:solidFill>
                <a:latin typeface="Arial"/>
              </a:rPr>
              <a:t>lý</a:t>
            </a:r>
            <a:r>
              <a:rPr lang="en-US" sz="3000" b="1" dirty="0">
                <a:solidFill>
                  <a:srgbClr val="BE2323"/>
                </a:solidFill>
                <a:latin typeface="Arial"/>
              </a:rPr>
              <a:t>: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93192"/>
            <a:ext cx="73152" cy="502920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27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61616"/>
                </a:solidFill>
                <a:latin typeface="Arial"/>
              </a:rPr>
              <a:t>TRIỂN KHAI CHƯƠNG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Môi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trường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17107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161616"/>
                </a:solidFill>
                <a:latin typeface="Arial"/>
              </a:rPr>
              <a:t>• Python 3.x
•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PyTorch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+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torchvision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
• Pillow + NumPy
• Google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Colab</a:t>
            </a:r>
            <a:endParaRPr sz="2800" b="0" dirty="0">
              <a:solidFill>
                <a:srgbClr val="161616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94960" y="20574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BE2323"/>
                </a:solidFill>
                <a:latin typeface="Arial"/>
              </a:rPr>
              <a:t>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654105"/>
            <a:ext cx="50620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800" b="0" dirty="0">
                <a:solidFill>
                  <a:srgbClr val="161616"/>
                </a:solidFill>
                <a:latin typeface="Arial"/>
              </a:rPr>
              <a:t>extract.py → feature extraction
build_index.py →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tạo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index
search.py → retrieval
evaluate.py →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đánh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giá</a:t>
            </a:r>
            <a:endParaRPr sz="2800" b="0" dirty="0">
              <a:solidFill>
                <a:srgbClr val="161616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1384" y="6348766"/>
            <a:ext cx="73128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BE2323"/>
                </a:solidFill>
                <a:latin typeface="Arial"/>
              </a:rPr>
              <a:t>- 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Database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và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query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dùng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cùng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weights.transforms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() +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model.eval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().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62120" y="9646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13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089C6F3-7008-B185-3E1C-889C0C3C3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203" y="2071769"/>
            <a:ext cx="6873836" cy="92972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E924808-6A08-E8B8-204D-97DA2D2CE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6985" y="3817947"/>
            <a:ext cx="7369179" cy="53420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93192"/>
            <a:ext cx="73152" cy="502920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276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161616"/>
                </a:solidFill>
                <a:latin typeface="Arial"/>
              </a:rPr>
              <a:t>DEMO TRA CỨU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E2323"/>
                </a:solidFill>
                <a:latin typeface="Arial"/>
              </a:rPr>
              <a:t>Luồng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61616"/>
                </a:solidFill>
                <a:latin typeface="Arial"/>
              </a:rPr>
              <a:t>Upload ảnh X-ray
→ chọn K
→ chọn metric
→ chạy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20574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Kết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quả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23960" y="2775268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truy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vấn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ở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bên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trái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
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Các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có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similarity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cao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nhất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được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xếp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hạng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tiếp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theo.</a:t>
            </a:r>
            <a:endParaRPr sz="2800" b="0" dirty="0">
              <a:solidFill>
                <a:srgbClr val="161616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4892040"/>
            <a:ext cx="15727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BE2323"/>
                </a:solidFill>
                <a:latin typeface="Arial"/>
              </a:rPr>
              <a:t>Cosine: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khoảng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0,181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ms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/query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cho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similarity + ranking.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62120" y="9646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14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DDF9A9-6717-8C02-3C16-7E83DAFE9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717" y="5957252"/>
            <a:ext cx="13414965" cy="34686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93192"/>
            <a:ext cx="73152" cy="502920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27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61616"/>
                </a:solidFill>
                <a:latin typeface="Arial"/>
              </a:rPr>
              <a:t>THIẾT KẾ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E2323"/>
                </a:solidFill>
                <a:latin typeface="Arial"/>
              </a:rPr>
              <a:t>Kịch bản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61616"/>
                </a:solidFill>
                <a:latin typeface="Arial"/>
              </a:rPr>
              <a:t>E1: ResNet50 + Cosine
E2: ResNet50 + Euclidean
E3: ResNet50 + Manhattan
K = 1, 5, 10,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0574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E2323"/>
                </a:solidFill>
                <a:latin typeface="Arial"/>
              </a:rPr>
              <a:t>Ground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65176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 err="1">
                <a:solidFill>
                  <a:srgbClr val="161616"/>
                </a:solidFill>
                <a:latin typeface="Arial"/>
              </a:rPr>
              <a:t>Mỗi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trong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index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lần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lượt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làm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query.
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Loại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chính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query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khỏi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kết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quả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
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cùng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lớp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= relevant.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629" y="6101556"/>
            <a:ext cx="79527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BE2323"/>
                </a:solidFill>
                <a:latin typeface="Arial"/>
              </a:rPr>
              <a:t>So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sánh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chất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lượng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retrieval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và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thời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gian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truy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vấn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trên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cùng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database/query/ground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62120" y="9646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15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836648-64AA-C0C7-E436-E8963287F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409" y="4567478"/>
            <a:ext cx="8295751" cy="45454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93192"/>
            <a:ext cx="73152" cy="502920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27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61616"/>
                </a:solidFill>
                <a:latin typeface="Arial"/>
              </a:rPr>
              <a:t>CÁC CHỈ SỐ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E2323"/>
                </a:solidFill>
                <a:latin typeface="Arial"/>
              </a:rPr>
              <a:t>Precision@K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61616"/>
                </a:solidFill>
                <a:latin typeface="Arial"/>
              </a:rPr>
              <a:t>P@K = relevant trong Top-K / K
→ độ chính xác kết quả.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273335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Recall@K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46920" y="346456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161616"/>
                </a:solidFill>
                <a:latin typeface="Arial"/>
              </a:rPr>
              <a:t>R@K = relevant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trong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Top-K /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tổng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relevant
→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khả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năng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thu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hồi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130516"/>
            <a:ext cx="71018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mAP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đánh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giá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thứ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tự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xếp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hạng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trên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nhiều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query;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thời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gian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/query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đo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riêng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similarity + ranking.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62120" y="9646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16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C83997-16A3-0483-7DAE-AB6B73348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655" y="6308724"/>
            <a:ext cx="12457974" cy="28103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93192"/>
            <a:ext cx="73152" cy="502920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27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61616"/>
                </a:solidFill>
                <a:latin typeface="Arial"/>
              </a:rPr>
              <a:t>KẾT QUẢ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E2323"/>
                </a:solidFill>
                <a:latin typeface="Arial"/>
              </a:rPr>
              <a:t>Kết quả nổi bật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61616"/>
                </a:solidFill>
                <a:latin typeface="Arial"/>
              </a:rPr>
              <a:t>P@5 ≈ 0,83
P@10 ≈ 0,81
mAP: 0,7056–0,7121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0574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E2323"/>
                </a:solidFill>
                <a:latin typeface="Arial"/>
              </a:rPr>
              <a:t>Hiệu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65176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61616"/>
                </a:solidFill>
                <a:latin typeface="Arial"/>
              </a:rPr>
              <a:t>Cosine: 0,181 ms/query
Euclidean: 2,782 ms/query
Manhattan: 2,707 ms/query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70832"/>
            <a:ext cx="15727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BE2323"/>
                </a:solidFill>
                <a:latin typeface="Arial"/>
              </a:rPr>
              <a:t>Manhattan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nhỉnh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hơn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nhẹ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về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mAP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; Cosine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nhanh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nhất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.</a:t>
            </a:r>
          </a:p>
        </p:txBody>
      </p:sp>
      <p:pic>
        <p:nvPicPr>
          <p:cNvPr id="10" name="Picture 9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05" y="5254752"/>
            <a:ext cx="15714415" cy="416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62120" y="9646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93192"/>
            <a:ext cx="73152" cy="502920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27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61616"/>
                </a:solidFill>
                <a:latin typeface="Arial"/>
              </a:rPr>
              <a:t>HẠN CHẾ CỦA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831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Dữ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liệu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&amp;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mô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hình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31470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161616"/>
                </a:solidFill>
                <a:latin typeface="Arial"/>
              </a:rPr>
              <a:t>• ResNet50 ImageNet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chưa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tối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ưu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riêng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cho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y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tế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
• Dataset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nhỏ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: 295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, 2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lớp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
• Ground truth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dựa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trên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nhãn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lớp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5831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BE2323"/>
                </a:solidFill>
                <a:latin typeface="Arial"/>
              </a:rPr>
              <a:t>Ý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nghĩa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kết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quả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0" y="331470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161616"/>
                </a:solidFill>
                <a:latin typeface="Arial"/>
              </a:rPr>
              <a:t>• Similarity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hình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≠ similarity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lâm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sàng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
•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Chưa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giải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quyết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semantic gap.
•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Không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phải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hệ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thống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chẩn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đoán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độc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lập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5727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Tìm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kiếm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tuyến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tính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O(Nd);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thực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nghiệm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trên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X-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quang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ngực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và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chạy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CPU.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62120" y="9646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93192"/>
            <a:ext cx="73152" cy="502920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627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61616"/>
                </a:solidFill>
                <a:latin typeface="Arial"/>
              </a:rPr>
              <a:t>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76225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Nâng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chất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lượng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399" y="358902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161616"/>
                </a:solidFill>
                <a:latin typeface="Arial"/>
              </a:rPr>
              <a:t>• Fine-tune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trên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dữ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liệu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y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tế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có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nhãn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
• DenseNet121 /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EfficientNet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/ Vision Transformer.
• Siamese / Triplet Network, metric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4" y="27686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BE2323"/>
                </a:solidFill>
                <a:latin typeface="Arial"/>
              </a:rPr>
              <a:t>Nâng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quy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mô</a:t>
            </a:r>
            <a:endParaRPr sz="3000" b="1" dirty="0">
              <a:solidFill>
                <a:srgbClr val="BE2323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46920" y="358902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161616"/>
                </a:solidFill>
                <a:latin typeface="Arial"/>
              </a:rPr>
              <a:t>• FAISS / ANN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cho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database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lớn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.
•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Kết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hợp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visual embedding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với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metadata.
• Logging, API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và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quản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61616"/>
                </a:solidFill>
                <a:latin typeface="Arial"/>
              </a:rPr>
              <a:t>lý</a:t>
            </a:r>
            <a:r>
              <a:rPr sz="2800" b="0" dirty="0">
                <a:solidFill>
                  <a:srgbClr val="161616"/>
                </a:solidFill>
                <a:latin typeface="Arial"/>
              </a:rPr>
              <a:t>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347460"/>
            <a:ext cx="157276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BE2323"/>
                </a:solidFill>
                <a:latin typeface="Arial"/>
              </a:rPr>
              <a:t>=&gt;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Mục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tiêu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: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tăng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chất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lượng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retrieval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nhưng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đánh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giá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đồng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thời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độ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chính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xác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và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hiệu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BE2323"/>
                </a:solidFill>
                <a:latin typeface="Arial"/>
              </a:rPr>
              <a:t>năng</a:t>
            </a:r>
            <a:r>
              <a:rPr sz="3000" b="1" dirty="0">
                <a:solidFill>
                  <a:srgbClr val="BE2323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62120" y="9646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68680"/>
            <a:ext cx="1645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dirty="0">
                <a:solidFill>
                  <a:srgbClr val="161616"/>
                </a:solidFill>
                <a:latin typeface="Arial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09800" y="3018026"/>
            <a:ext cx="1554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solidFill>
                  <a:srgbClr val="161616"/>
                </a:solidFill>
                <a:latin typeface="Arial"/>
              </a:rPr>
              <a:t>Pipeline CBMIR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đã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được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xây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dựng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từ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đầu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vào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đến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Top-K: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11400" y="3760718"/>
            <a:ext cx="14147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3200" b="0" dirty="0">
                <a:solidFill>
                  <a:srgbClr val="161616"/>
                </a:solidFill>
                <a:latin typeface="Arial"/>
              </a:rPr>
              <a:t>• ResNet50 → embedding 2048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chiều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→ L2 normalization.
• Indexing offline + query online.
• Cosine / Euclidean / Manhattan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để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so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sánh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.
•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Đánh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giá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bằng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P@K, R@K,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mAP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và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thời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gian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truy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vấn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.
• Prototype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chứng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minh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khả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năng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tra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cứu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ảnh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tương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tự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;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chưa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phải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hệ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thống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chẩn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 </a:t>
            </a:r>
            <a:r>
              <a:rPr sz="3200" b="0" dirty="0" err="1">
                <a:solidFill>
                  <a:srgbClr val="161616"/>
                </a:solidFill>
                <a:latin typeface="Arial"/>
              </a:rPr>
              <a:t>đoán</a:t>
            </a:r>
            <a:r>
              <a:rPr sz="3200" b="0" dirty="0">
                <a:solidFill>
                  <a:srgbClr val="161616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2120" y="9646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BE2323"/>
                </a:solidFill>
                <a:latin typeface="Arial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9B4FB-FEB2-12A8-71DB-0B3043BFF342}"/>
              </a:ext>
            </a:extLst>
          </p:cNvPr>
          <p:cNvSpPr/>
          <p:nvPr/>
        </p:nvSpPr>
        <p:spPr>
          <a:xfrm>
            <a:off x="612648" y="896112"/>
            <a:ext cx="73152" cy="502920"/>
          </a:xfrm>
          <a:prstGeom prst="rect">
            <a:avLst/>
          </a:prstGeom>
          <a:solidFill>
            <a:srgbClr val="B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1582</Words>
  <Application>Microsoft Office PowerPoint</Application>
  <PresentationFormat>Custom</PresentationFormat>
  <Paragraphs>220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Ngân Kim</cp:lastModifiedBy>
  <cp:revision>5</cp:revision>
  <dcterms:created xsi:type="dcterms:W3CDTF">2013-01-27T09:14:16Z</dcterms:created>
  <dcterms:modified xsi:type="dcterms:W3CDTF">2026-10-05T03:30:07Z</dcterms:modified>
  <cp:category/>
</cp:coreProperties>
</file>